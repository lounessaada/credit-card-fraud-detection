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77" r:id="rId14"/>
    <p:sldId id="278" r:id="rId15"/>
    <p:sldId id="27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6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6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3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9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0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5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98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rt nuageux en peinture à l’huile">
            <a:extLst>
              <a:ext uri="{FF2B5EF4-FFF2-40B4-BE49-F238E27FC236}">
                <a16:creationId xmlns:a16="http://schemas.microsoft.com/office/drawing/2014/main" id="{40AB3DA0-71DC-6AD1-5574-2555F38B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96" r="9091" b="11696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704F6F-BC78-760B-DAEB-B3BF05358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5" y="908651"/>
            <a:ext cx="6447741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 </a:t>
            </a:r>
            <a:r>
              <a:rPr lang="en-US" b="1" dirty="0" err="1"/>
              <a:t>Évaluation</a:t>
            </a:r>
            <a:r>
              <a:rPr lang="en-US" b="1" dirty="0"/>
              <a:t> </a:t>
            </a:r>
            <a:r>
              <a:rPr lang="en-US" b="1" dirty="0" err="1"/>
              <a:t>Sommative</a:t>
            </a:r>
            <a:r>
              <a:rPr lang="en-US" b="1" dirty="0"/>
              <a:t> 1</a:t>
            </a:r>
            <a:br>
              <a:rPr lang="en-GB" dirty="0"/>
            </a:br>
            <a:endParaRPr lang="en-GB" sz="6800" spc="0" dirty="0">
              <a:latin typeface="+mn-l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B9DDA4-7C72-DCA7-56A6-CB8FB1B91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fr-FR" sz="2200" dirty="0"/>
              <a:t>29 Avril 2026</a:t>
            </a:r>
            <a:endParaRPr lang="en-GB" sz="2200" dirty="0"/>
          </a:p>
        </p:txBody>
      </p:sp>
      <p:cxnSp>
        <p:nvCxnSpPr>
          <p:cNvPr id="34" name="Straight Connector 30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54A0A22-DEB5-017A-15C9-DEB8508410AC}"/>
              </a:ext>
            </a:extLst>
          </p:cNvPr>
          <p:cNvSpPr txBox="1"/>
          <p:nvPr/>
        </p:nvSpPr>
        <p:spPr>
          <a:xfrm>
            <a:off x="1258156" y="6394573"/>
            <a:ext cx="773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Yazid Aloui -</a:t>
            </a:r>
            <a:r>
              <a:rPr lang="en-GB" dirty="0"/>
              <a:t>Yanis </a:t>
            </a:r>
            <a:r>
              <a:rPr lang="en-GB" dirty="0" err="1"/>
              <a:t>Hanouti</a:t>
            </a:r>
            <a:r>
              <a:rPr lang="fr-FR" dirty="0"/>
              <a:t>-</a:t>
            </a:r>
            <a:r>
              <a:rPr lang="en-GB" dirty="0"/>
              <a:t>Lounes Saada - </a:t>
            </a:r>
            <a:r>
              <a:rPr lang="es-ES" dirty="0"/>
              <a:t>Omar El </a:t>
            </a:r>
            <a:r>
              <a:rPr lang="es-ES" dirty="0" err="1"/>
              <a:t>Mejdoubi</a:t>
            </a:r>
            <a:r>
              <a:rPr lang="es-ES" dirty="0"/>
              <a:t> El Imam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1162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A9DC00-1C97-5FC9-0B78-B2B0D77F2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1" y="1056343"/>
            <a:ext cx="10327436" cy="35659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21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Contexte : transactions bancaires européennes, fraude rare mais coûteuse.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Objectif : préparer un </a:t>
            </a:r>
            <a:r>
              <a:rPr lang="fr-FR" sz="2100" dirty="0" err="1"/>
              <a:t>dataset</a:t>
            </a:r>
            <a:r>
              <a:rPr lang="fr-FR" sz="2100" dirty="0"/>
              <a:t> propre, transformé et équilibré pour le Machine Learning.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21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Type de tâche : classification supervisée binaire (Class 0 vs Class 1).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Enjeu métier : coût élevé des fraudes non détectées (FN) et coût opérationnel des fausses alertes (FP).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3B167E-8857-C031-6DB4-A1A0E44A3534}"/>
              </a:ext>
            </a:extLst>
          </p:cNvPr>
          <p:cNvSpPr txBox="1"/>
          <p:nvPr/>
        </p:nvSpPr>
        <p:spPr>
          <a:xfrm>
            <a:off x="4604969" y="148653"/>
            <a:ext cx="437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Contexte &amp; Objectifs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4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2757-E6D6-F13E-E795-6B628BED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FB0CC5-E27B-D56B-5525-B2B3F3B1F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1" y="1056343"/>
            <a:ext cx="6485279" cy="4002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 marL="0" indent="0">
              <a:buNone/>
            </a:pPr>
            <a:endParaRPr lang="fr-FR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Taille : 284 807 </a:t>
            </a:r>
            <a:r>
              <a:rPr lang="en-US" sz="1600" dirty="0" err="1"/>
              <a:t>lignes</a:t>
            </a:r>
            <a:r>
              <a:rPr lang="en-US" sz="1600" dirty="0"/>
              <a:t>, 31 </a:t>
            </a:r>
            <a:r>
              <a:rPr lang="en-US" sz="1600" dirty="0" err="1"/>
              <a:t>colonnes</a:t>
            </a:r>
            <a:r>
              <a:rPr lang="en-US" sz="1600" dirty="0"/>
              <a:t>.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Target : Class (0 = normal, 1 = </a:t>
            </a:r>
            <a:r>
              <a:rPr lang="en-US" sz="1600" dirty="0" err="1"/>
              <a:t>fraude</a:t>
            </a:r>
            <a:r>
              <a:rPr lang="en-US" sz="1600" dirty="0"/>
              <a:t>).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Variables : V1..V28 (issues </a:t>
            </a:r>
            <a:r>
              <a:rPr lang="en-US" sz="1600" dirty="0" err="1"/>
              <a:t>d’une</a:t>
            </a:r>
            <a:r>
              <a:rPr lang="en-US" sz="1600" dirty="0"/>
              <a:t> PCA), Amount (</a:t>
            </a:r>
            <a:r>
              <a:rPr lang="en-US" sz="1600" dirty="0" err="1"/>
              <a:t>montant</a:t>
            </a:r>
            <a:r>
              <a:rPr lang="en-US" sz="1600" dirty="0"/>
              <a:t>), Time (</a:t>
            </a:r>
            <a:r>
              <a:rPr lang="en-US" sz="1600" dirty="0" err="1"/>
              <a:t>secondes</a:t>
            </a:r>
            <a:r>
              <a:rPr lang="en-US" sz="1600" dirty="0"/>
              <a:t>).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endParaRPr lang="fr-FR" sz="2600" dirty="0"/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7E16F8-2042-1170-B886-F87A194F88E2}"/>
              </a:ext>
            </a:extLst>
          </p:cNvPr>
          <p:cNvSpPr txBox="1"/>
          <p:nvPr/>
        </p:nvSpPr>
        <p:spPr>
          <a:xfrm>
            <a:off x="3808015" y="81541"/>
            <a:ext cx="437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 Description du </a:t>
            </a:r>
            <a:r>
              <a:rPr lang="fr-FR" sz="2800" b="1" dirty="0" err="1">
                <a:solidFill>
                  <a:srgbClr val="FF0000"/>
                </a:solidFill>
              </a:rPr>
              <a:t>dataset</a:t>
            </a:r>
            <a:endParaRPr lang="en-GB" sz="2800" b="1" dirty="0">
              <a:solidFill>
                <a:srgbClr val="FF0000"/>
              </a:solidFill>
            </a:endParaRPr>
          </a:p>
        </p:txBody>
      </p:sp>
      <p:pic>
        <p:nvPicPr>
          <p:cNvPr id="4" name="Image 3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0AC3CBC5-C6F5-DA06-B0BA-882F5DEEB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907" y="687896"/>
            <a:ext cx="2632002" cy="513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64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BD99-8DAC-223E-4D2A-26F7E9FC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30CC0-C785-F625-0DD5-3713FB33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47" y="1039565"/>
            <a:ext cx="6485279" cy="40022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 marL="0" indent="0">
              <a:buNone/>
            </a:pPr>
            <a:endParaRPr lang="fr-FR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700" dirty="0"/>
              <a:t>La fraude représente environ 0.17% des transactions : </a:t>
            </a:r>
            <a:r>
              <a:rPr lang="fr-FR" sz="1700" dirty="0" err="1"/>
              <a:t>dataset</a:t>
            </a:r>
            <a:r>
              <a:rPr lang="fr-FR" sz="1700" dirty="0"/>
              <a:t> fortement déséquilibré.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700" dirty="0" err="1"/>
              <a:t>Accuracy</a:t>
            </a:r>
            <a:r>
              <a:rPr lang="fr-FR" sz="1700" dirty="0"/>
              <a:t> non pertinente : un modèle qui prédit toujours 0 aurait une </a:t>
            </a:r>
            <a:r>
              <a:rPr lang="fr-FR" sz="1700" dirty="0" err="1"/>
              <a:t>accuracy</a:t>
            </a:r>
            <a:r>
              <a:rPr lang="fr-FR" sz="1700" dirty="0"/>
              <a:t> très élevée.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700" dirty="0"/>
              <a:t>Métriques adaptées : ROC-AUC et surtout PR-AUC.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600" dirty="0"/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4530BF-7A5F-4ABD-3F77-586E43F2A396}"/>
              </a:ext>
            </a:extLst>
          </p:cNvPr>
          <p:cNvSpPr txBox="1"/>
          <p:nvPr/>
        </p:nvSpPr>
        <p:spPr>
          <a:xfrm>
            <a:off x="2834893" y="-266211"/>
            <a:ext cx="5059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en-GB" sz="2800" b="1" dirty="0">
                <a:solidFill>
                  <a:srgbClr val="FF0000"/>
                </a:solidFill>
              </a:rPr>
              <a:t>Analyse </a:t>
            </a:r>
            <a:r>
              <a:rPr lang="en-GB" sz="2800" b="1" dirty="0" err="1">
                <a:solidFill>
                  <a:srgbClr val="FF0000"/>
                </a:solidFill>
              </a:rPr>
              <a:t>initiale</a:t>
            </a:r>
            <a:r>
              <a:rPr lang="en-GB" sz="2800" b="1" dirty="0">
                <a:solidFill>
                  <a:srgbClr val="FF0000"/>
                </a:solidFill>
              </a:rPr>
              <a:t> du </a:t>
            </a:r>
            <a:r>
              <a:rPr lang="en-GB" sz="2800" b="1" dirty="0" err="1">
                <a:solidFill>
                  <a:srgbClr val="FF0000"/>
                </a:solidFill>
              </a:rPr>
              <a:t>problème</a:t>
            </a:r>
            <a:endParaRPr lang="en-GB" sz="2800" b="1" dirty="0">
              <a:solidFill>
                <a:srgbClr val="FF0000"/>
              </a:solidFill>
            </a:endParaRPr>
          </a:p>
        </p:txBody>
      </p:sp>
      <p:pic>
        <p:nvPicPr>
          <p:cNvPr id="6" name="Image 5" descr="Une image contenant texte, capture d’écran, Rectangle, affichage&#10;&#10;Le contenu généré par l’IA peut être incorrect.">
            <a:extLst>
              <a:ext uri="{FF2B5EF4-FFF2-40B4-BE49-F238E27FC236}">
                <a16:creationId xmlns:a16="http://schemas.microsoft.com/office/drawing/2014/main" id="{D553FF07-7242-CFA0-108F-54BA8AF2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16" y="2215305"/>
            <a:ext cx="53911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62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4EA85-B772-F85E-F434-CE7C6665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4F585B-D53C-AD81-CA41-A64213CFF9B6}"/>
              </a:ext>
            </a:extLst>
          </p:cNvPr>
          <p:cNvSpPr txBox="1"/>
          <p:nvPr/>
        </p:nvSpPr>
        <p:spPr>
          <a:xfrm>
            <a:off x="1925987" y="-338949"/>
            <a:ext cx="5958216" cy="1316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cap="all" spc="30" dirty="0">
                <a:latin typeface="+mj-lt"/>
                <a:ea typeface="+mj-ea"/>
                <a:cs typeface="+mj-cs"/>
              </a:rPr>
              <a:t>Exploration et diagnostic (EDA)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3D9B4-3C53-702C-E3B2-60533924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63" y="1289098"/>
            <a:ext cx="5958216" cy="3713109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 </a:t>
            </a:r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Amount est </a:t>
            </a:r>
            <a:r>
              <a:rPr lang="en-US" sz="2400" dirty="0" err="1"/>
              <a:t>asymétrique</a:t>
            </a:r>
            <a:r>
              <a:rPr lang="en-US" sz="2400" dirty="0"/>
              <a:t> et </a:t>
            </a:r>
            <a:r>
              <a:rPr lang="en-US" sz="2400" dirty="0" err="1"/>
              <a:t>contient</a:t>
            </a:r>
            <a:r>
              <a:rPr lang="en-US" sz="2400" dirty="0"/>
              <a:t> des outliers.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Les </a:t>
            </a:r>
            <a:r>
              <a:rPr lang="en-US" sz="2400" dirty="0" err="1"/>
              <a:t>fraudes</a:t>
            </a:r>
            <a:r>
              <a:rPr lang="en-US" sz="2400" dirty="0"/>
              <a:t> se </a:t>
            </a:r>
            <a:r>
              <a:rPr lang="en-US" sz="2400" dirty="0" err="1"/>
              <a:t>concentrent</a:t>
            </a:r>
            <a:r>
              <a:rPr lang="en-US" sz="2400" dirty="0"/>
              <a:t> </a:t>
            </a:r>
            <a:r>
              <a:rPr lang="en-US" sz="2400" dirty="0" err="1"/>
              <a:t>souvent</a:t>
            </a:r>
            <a:r>
              <a:rPr lang="en-US" sz="2400" dirty="0"/>
              <a:t> sur des petits </a:t>
            </a:r>
            <a:r>
              <a:rPr lang="en-US" sz="2400" dirty="0" err="1"/>
              <a:t>montants</a:t>
            </a:r>
            <a:r>
              <a:rPr lang="en-US" sz="2400" dirty="0"/>
              <a:t> (tests) et sur des </a:t>
            </a:r>
            <a:r>
              <a:rPr lang="en-US" sz="2400" dirty="0" err="1"/>
              <a:t>montants</a:t>
            </a:r>
            <a:r>
              <a:rPr lang="en-US" sz="2400" dirty="0"/>
              <a:t> </a:t>
            </a:r>
            <a:r>
              <a:rPr lang="en-US" sz="2400" dirty="0" err="1"/>
              <a:t>élevés</a:t>
            </a:r>
            <a:r>
              <a:rPr lang="en-US" sz="2400" dirty="0"/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Time </a:t>
            </a:r>
            <a:r>
              <a:rPr lang="en-US" sz="2400" dirty="0" err="1"/>
              <a:t>permet</a:t>
            </a:r>
            <a:r>
              <a:rPr lang="en-US" sz="2400" dirty="0"/>
              <a:t> </a:t>
            </a:r>
            <a:r>
              <a:rPr lang="en-US" sz="2400" dirty="0" err="1"/>
              <a:t>d’extraire</a:t>
            </a:r>
            <a:r>
              <a:rPr lang="en-US" sz="2400" dirty="0"/>
              <a:t> </a:t>
            </a:r>
            <a:r>
              <a:rPr lang="en-US" sz="2400" dirty="0" err="1"/>
              <a:t>l’heure</a:t>
            </a:r>
            <a:r>
              <a:rPr lang="en-US" sz="2400" dirty="0"/>
              <a:t> (feature </a:t>
            </a:r>
            <a:r>
              <a:rPr lang="en-US" sz="2400" dirty="0" err="1"/>
              <a:t>temporelle</a:t>
            </a:r>
            <a:r>
              <a:rPr lang="en-US" sz="2400" dirty="0"/>
              <a:t>).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Analyse du taux de fraude par déciles de </a:t>
            </a:r>
            <a:r>
              <a:rPr lang="fr-FR" sz="2400" dirty="0" err="1"/>
              <a:t>Amount</a:t>
            </a:r>
            <a:r>
              <a:rPr lang="fr-FR" sz="2400" dirty="0"/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Observation d’une forme en U : risque élevé aux extrêmes.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Justification de la création de </a:t>
            </a:r>
            <a:r>
              <a:rPr lang="fr-FR" sz="2400" dirty="0" err="1"/>
              <a:t>features</a:t>
            </a:r>
            <a:r>
              <a:rPr lang="fr-FR" sz="2400" dirty="0"/>
              <a:t> basées sur Q10 et Q90.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4C4D36C-AF1F-1E6D-0E83-57A91E2B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379" y="1074997"/>
            <a:ext cx="5031521" cy="234468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1B4CFB49-5869-B754-7150-49B6F5927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307" y="3567165"/>
            <a:ext cx="4885593" cy="287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71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BC393-4CCF-71D9-7EEC-DBF46402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2CB0C2-E5A1-EA3A-C713-AEFD843B8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B1C57C-2C2E-037A-55AE-F1D267B09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0A9F99-D216-6814-E816-5D97474D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754E61-D51E-30AD-D4E4-05DD52BBE78D}"/>
              </a:ext>
            </a:extLst>
          </p:cNvPr>
          <p:cNvSpPr txBox="1"/>
          <p:nvPr/>
        </p:nvSpPr>
        <p:spPr>
          <a:xfrm>
            <a:off x="1925987" y="-338950"/>
            <a:ext cx="6857286" cy="1362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800" b="1" cap="all" spc="30" dirty="0">
                <a:latin typeface="+mj-lt"/>
                <a:ea typeface="+mj-ea"/>
                <a:cs typeface="+mj-cs"/>
              </a:rPr>
              <a:t>Split Train/Test (Anti Data Leakage)</a:t>
            </a:r>
            <a:endParaRPr lang="en-US" sz="2800" b="1" cap="all" spc="30" dirty="0"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637DF5-B52D-E87C-85FA-014700511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EDD354-8092-B45C-C7E9-4F1E12F1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3"/>
            <a:ext cx="5958216" cy="28894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Split effectué avant toute transformation ou rééchantillonnage.</a:t>
            </a:r>
            <a:endParaRPr lang="en-GB" sz="1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Objectif : éviter toute fuite d’information (data </a:t>
            </a:r>
            <a:r>
              <a:rPr lang="fr-FR" sz="1600" dirty="0" err="1"/>
              <a:t>leakage</a:t>
            </a:r>
            <a:r>
              <a:rPr lang="fr-FR" sz="1600" dirty="0"/>
              <a:t>).</a:t>
            </a:r>
            <a:endParaRPr lang="en-GB" sz="1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Split stratifié afin de conserver le même taux de fraude dans train et test.</a:t>
            </a:r>
            <a:endParaRPr lang="en-GB" sz="1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A3E8BB-DB0B-C085-A2E3-FD6ECED30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logiciel, Logiciel multimédia, multimédia&#10;&#10;Le contenu généré par l’IA peut être incorrect.">
            <a:extLst>
              <a:ext uri="{FF2B5EF4-FFF2-40B4-BE49-F238E27FC236}">
                <a16:creationId xmlns:a16="http://schemas.microsoft.com/office/drawing/2014/main" id="{F4E4D94F-2DF5-36B2-1136-2A8FC6C3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50" y="3233512"/>
            <a:ext cx="9617273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51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DF219-0314-9A42-01E2-537C6510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B9EF05-431C-3C84-9DAE-970F86BF2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0D10F9-BE50-B199-BFA1-A2531B98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D58ED11-21A5-B553-3738-8DBAA148E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2DEC1D-E7BD-9F2A-FDCB-28A0B5DE6B7B}"/>
              </a:ext>
            </a:extLst>
          </p:cNvPr>
          <p:cNvSpPr txBox="1"/>
          <p:nvPr/>
        </p:nvSpPr>
        <p:spPr>
          <a:xfrm>
            <a:off x="1925987" y="-338950"/>
            <a:ext cx="6857286" cy="1362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800" b="1" cap="all" spc="30" dirty="0">
                <a:latin typeface="+mj-lt"/>
                <a:ea typeface="+mj-ea"/>
                <a:cs typeface="+mj-cs"/>
              </a:rPr>
              <a:t>Transformations </a:t>
            </a:r>
            <a:r>
              <a:rPr lang="en-GB" sz="2800" b="1" cap="all" spc="30" dirty="0" err="1">
                <a:latin typeface="+mj-lt"/>
                <a:ea typeface="+mj-ea"/>
                <a:cs typeface="+mj-cs"/>
              </a:rPr>
              <a:t>appliquées</a:t>
            </a:r>
            <a:endParaRPr lang="en-US" sz="2800" b="1" cap="all" spc="30" dirty="0"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C11AB1-47D8-65E1-977E-CAFBC13E2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A7B61D-C7E9-CC2E-CC51-64BB12D5C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2"/>
            <a:ext cx="5958216" cy="5307621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Transformation 1 : log1p(</a:t>
            </a:r>
            <a:r>
              <a:rPr lang="fr-FR" sz="1600" dirty="0" err="1"/>
              <a:t>Amount</a:t>
            </a:r>
            <a:r>
              <a:rPr lang="fr-FR" sz="1600" dirty="0"/>
              <a:t>) pour réduire l’asymétrie.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Transformation 2 : </a:t>
            </a:r>
            <a:r>
              <a:rPr lang="fr-FR" sz="1600" dirty="0" err="1"/>
              <a:t>RobustScaler</a:t>
            </a:r>
            <a:r>
              <a:rPr lang="fr-FR" sz="1600" dirty="0"/>
              <a:t> pour un </a:t>
            </a:r>
            <a:r>
              <a:rPr lang="fr-FR" sz="1600" dirty="0" err="1"/>
              <a:t>scaling</a:t>
            </a:r>
            <a:r>
              <a:rPr lang="fr-FR" sz="1600" dirty="0"/>
              <a:t> robuste aux </a:t>
            </a:r>
            <a:r>
              <a:rPr lang="fr-FR" sz="1600" dirty="0" err="1"/>
              <a:t>outliers</a:t>
            </a:r>
            <a:r>
              <a:rPr lang="fr-FR" sz="1600" dirty="0"/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Transformation 3 : Yeo-Johnson sur certaines variables V* (compatible valeurs négatives).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33DAC-DF28-1491-E8BC-2CF006DC1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FD24BFE-1967-3D7A-7EF0-40C70599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199" y="991110"/>
            <a:ext cx="5380186" cy="1277234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F25C76E-C0D7-7074-476F-DB9A8F5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99" y="2879513"/>
            <a:ext cx="5463773" cy="1109085"/>
          </a:xfrm>
          <a:prstGeom prst="rect">
            <a:avLst/>
          </a:prstGeom>
        </p:spPr>
      </p:pic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D9F6D31-A110-3608-8DA5-1003E69E6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279" y="4352353"/>
            <a:ext cx="5486693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5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9B024-0EC7-8D32-7B4A-01E057C9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DF825-BBE2-2B5D-8EDC-689B6A644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C930D0-18E3-5974-2FBC-F930EBE68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77EA98-246E-7A31-62C2-4CA6040F8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9399BD-8343-D6EB-88E4-8F5CD34D89FF}"/>
              </a:ext>
            </a:extLst>
          </p:cNvPr>
          <p:cNvSpPr txBox="1"/>
          <p:nvPr/>
        </p:nvSpPr>
        <p:spPr>
          <a:xfrm>
            <a:off x="1842097" y="164391"/>
            <a:ext cx="7905910" cy="557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cap="all" spc="30" dirty="0">
                <a:latin typeface="+mj-lt"/>
                <a:ea typeface="+mj-ea"/>
                <a:cs typeface="+mj-cs"/>
              </a:rPr>
              <a:t>Feature Engineering (</a:t>
            </a:r>
            <a:r>
              <a:rPr lang="en-US" sz="2800" b="1" cap="all" spc="30" dirty="0" err="1">
                <a:latin typeface="+mj-lt"/>
                <a:ea typeface="+mj-ea"/>
                <a:cs typeface="+mj-cs"/>
              </a:rPr>
              <a:t>logique</a:t>
            </a:r>
            <a:r>
              <a:rPr lang="en-US" sz="2800" b="1" cap="all" spc="30" dirty="0">
                <a:latin typeface="+mj-lt"/>
                <a:ea typeface="+mj-ea"/>
                <a:cs typeface="+mj-cs"/>
              </a:rPr>
              <a:t> métier)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472555-F981-2A60-4682-3DAF97B35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26C02-A466-6D58-2E11-9A25BB7DD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3"/>
            <a:ext cx="5642231" cy="48210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</a:t>
            </a:r>
            <a:r>
              <a:rPr lang="en-GB" sz="1600" dirty="0"/>
              <a:t>Hour : extraction de </a:t>
            </a:r>
            <a:r>
              <a:rPr lang="en-GB" sz="1600" dirty="0" err="1"/>
              <a:t>l’heure</a:t>
            </a:r>
            <a:r>
              <a:rPr lang="en-GB" sz="1600" dirty="0"/>
              <a:t> </a:t>
            </a:r>
            <a:r>
              <a:rPr lang="en-GB" sz="1600" dirty="0" err="1"/>
              <a:t>depuis</a:t>
            </a:r>
            <a:r>
              <a:rPr lang="en-GB" sz="1600" dirty="0"/>
              <a:t> Time.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1600" dirty="0" err="1"/>
              <a:t>is_very_small_amount</a:t>
            </a:r>
            <a:r>
              <a:rPr lang="en-GB" sz="1600" dirty="0"/>
              <a:t> : Amount &lt; Q10 (transactions test).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1600" dirty="0" err="1"/>
              <a:t>is_very_large_amount</a:t>
            </a:r>
            <a:r>
              <a:rPr lang="en-GB" sz="1600" dirty="0"/>
              <a:t> : Amount &gt; Q90 (transactions </a:t>
            </a:r>
            <a:r>
              <a:rPr lang="en-GB" sz="1600" dirty="0" err="1"/>
              <a:t>élevées</a:t>
            </a:r>
            <a:r>
              <a:rPr lang="en-GB" sz="1600" dirty="0"/>
              <a:t>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300" b="1" dirty="0"/>
              <a:t>q10 = </a:t>
            </a:r>
            <a:r>
              <a:rPr lang="fr-FR" sz="1300" b="1" dirty="0" err="1"/>
              <a:t>X_train</a:t>
            </a:r>
            <a:r>
              <a:rPr lang="fr-FR" sz="1300" b="1" dirty="0"/>
              <a:t>["</a:t>
            </a:r>
            <a:r>
              <a:rPr lang="fr-FR" sz="1300" b="1" dirty="0" err="1"/>
              <a:t>Amount</a:t>
            </a:r>
            <a:r>
              <a:rPr lang="fr-FR" sz="1300" b="1" dirty="0"/>
              <a:t>"].quantile(0.10)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300" b="1" dirty="0"/>
              <a:t>q90 = </a:t>
            </a:r>
            <a:r>
              <a:rPr lang="fr-FR" sz="1300" b="1" dirty="0" err="1"/>
              <a:t>X_train</a:t>
            </a:r>
            <a:r>
              <a:rPr lang="fr-FR" sz="1300" b="1" dirty="0"/>
              <a:t>["</a:t>
            </a:r>
            <a:r>
              <a:rPr lang="fr-FR" sz="1300" b="1" dirty="0" err="1"/>
              <a:t>Amount</a:t>
            </a:r>
            <a:r>
              <a:rPr lang="fr-FR" sz="1300" b="1" dirty="0"/>
              <a:t>"].quantile(0.90)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96C9E9-D484-559F-7701-B2476F3FF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A2C069B-7DE5-BE13-F661-A3CC373A0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193" y="3271942"/>
            <a:ext cx="6515665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85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CDE8E-4E3A-6A4D-E043-E36E9CF2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0CAA4D-6FE6-789B-2594-19A1002BD4D2}"/>
              </a:ext>
            </a:extLst>
          </p:cNvPr>
          <p:cNvSpPr txBox="1"/>
          <p:nvPr/>
        </p:nvSpPr>
        <p:spPr>
          <a:xfrm>
            <a:off x="1005538" y="0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>
                <a:latin typeface="+mj-lt"/>
                <a:ea typeface="+mj-ea"/>
                <a:cs typeface="+mj-cs"/>
              </a:rPr>
              <a:t>Gestion du </a:t>
            </a:r>
            <a:r>
              <a:rPr lang="en-US" sz="4000" b="1" cap="all" spc="30" dirty="0" err="1">
                <a:latin typeface="+mj-lt"/>
                <a:ea typeface="+mj-ea"/>
                <a:cs typeface="+mj-cs"/>
              </a:rPr>
              <a:t>déséquilibre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de classes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3E468B4-8608-A9A9-45BC-DB1472D1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47801"/>
            <a:ext cx="6072188" cy="456126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7DCA2B-A21A-F60B-A25B-82CF1CB1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245996"/>
            <a:ext cx="4191001" cy="4742751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Baseline : pas de </a:t>
            </a:r>
            <a:r>
              <a:rPr lang="en-US" sz="1400" dirty="0" err="1"/>
              <a:t>rééchantillonnage</a:t>
            </a:r>
            <a:r>
              <a:rPr lang="en-US" sz="14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 err="1"/>
              <a:t>class_weight</a:t>
            </a:r>
            <a:r>
              <a:rPr lang="en-US" sz="1400" dirty="0"/>
              <a:t>='balanced' : </a:t>
            </a:r>
            <a:r>
              <a:rPr lang="en-US" sz="1400" dirty="0" err="1"/>
              <a:t>pénalise</a:t>
            </a:r>
            <a:r>
              <a:rPr lang="en-US" sz="1400" dirty="0"/>
              <a:t> </a:t>
            </a:r>
            <a:r>
              <a:rPr lang="en-US" sz="1400" dirty="0" err="1"/>
              <a:t>davantage</a:t>
            </a:r>
            <a:r>
              <a:rPr lang="en-US" sz="1400" dirty="0"/>
              <a:t> les </a:t>
            </a:r>
            <a:r>
              <a:rPr lang="en-US" sz="1400" dirty="0" err="1"/>
              <a:t>erreurs</a:t>
            </a:r>
            <a:r>
              <a:rPr lang="en-US" sz="1400" dirty="0"/>
              <a:t> sur la </a:t>
            </a:r>
            <a:r>
              <a:rPr lang="en-US" sz="1400" dirty="0" err="1"/>
              <a:t>fraude</a:t>
            </a:r>
            <a:r>
              <a:rPr lang="en-US" sz="14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 err="1"/>
              <a:t>RandomUnderSampler</a:t>
            </a:r>
            <a:r>
              <a:rPr lang="en-US" sz="1400" dirty="0"/>
              <a:t> : </a:t>
            </a:r>
            <a:r>
              <a:rPr lang="en-US" sz="1400" dirty="0" err="1"/>
              <a:t>réduction</a:t>
            </a:r>
            <a:r>
              <a:rPr lang="en-US" sz="1400" dirty="0"/>
              <a:t> de la </a:t>
            </a:r>
            <a:r>
              <a:rPr lang="en-US" sz="1400" dirty="0" err="1"/>
              <a:t>classe</a:t>
            </a:r>
            <a:r>
              <a:rPr lang="en-US" sz="1400" dirty="0"/>
              <a:t> </a:t>
            </a:r>
            <a:r>
              <a:rPr lang="en-US" sz="1400" dirty="0" err="1"/>
              <a:t>majoritaire</a:t>
            </a:r>
            <a:r>
              <a:rPr lang="en-US" sz="14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SMOTE : sur-</a:t>
            </a:r>
            <a:r>
              <a:rPr lang="en-US" sz="1400" dirty="0" err="1"/>
              <a:t>échantillonnage</a:t>
            </a:r>
            <a:r>
              <a:rPr lang="en-US" sz="1400" dirty="0"/>
              <a:t> </a:t>
            </a:r>
            <a:r>
              <a:rPr lang="en-US" sz="1400" dirty="0" err="1"/>
              <a:t>synthétique</a:t>
            </a:r>
            <a:r>
              <a:rPr lang="en-US" sz="1400" dirty="0"/>
              <a:t> de la </a:t>
            </a:r>
            <a:r>
              <a:rPr lang="en-US" sz="1400" dirty="0" err="1"/>
              <a:t>classe</a:t>
            </a:r>
            <a:r>
              <a:rPr lang="en-US" sz="1400" dirty="0"/>
              <a:t> </a:t>
            </a:r>
            <a:r>
              <a:rPr lang="en-US" sz="1400" dirty="0" err="1"/>
              <a:t>minoritaire</a:t>
            </a:r>
            <a:r>
              <a:rPr lang="en-US" sz="1400" dirty="0"/>
              <a:t>.</a:t>
            </a:r>
          </a:p>
          <a:p>
            <a:pPr lvl="0">
              <a:lnSpc>
                <a:spcPct val="100000"/>
              </a:lnSpc>
            </a:pPr>
            <a:endParaRPr lang="en-US" sz="1800" dirty="0"/>
          </a:p>
          <a:p>
            <a:pPr marL="0">
              <a:lnSpc>
                <a:spcPct val="100000"/>
              </a:lnSpc>
            </a:pPr>
            <a:r>
              <a:rPr lang="en-US" sz="1800" dirty="0"/>
              <a:t>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0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C1D8-2AEB-D629-BEBC-C1EB31A0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BDD01D-2122-2A3D-4F87-7A1773D5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CE6B90-33BE-37A9-7BDC-95CF3523A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EF33E3E-7743-EC5E-DE1F-2BBB13491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AE7788-1E3B-0525-DD2A-B358ACE576EE}"/>
              </a:ext>
            </a:extLst>
          </p:cNvPr>
          <p:cNvSpPr txBox="1"/>
          <p:nvPr/>
        </p:nvSpPr>
        <p:spPr>
          <a:xfrm>
            <a:off x="1005538" y="0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 err="1">
                <a:latin typeface="+mj-lt"/>
                <a:ea typeface="+mj-ea"/>
                <a:cs typeface="+mj-cs"/>
              </a:rPr>
              <a:t>Métriques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ROC-AUC et PR-AUC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BB0AFA-DBE7-6530-D39D-148F0F941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AA6EC-718E-89AD-37D1-65E73B83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05" y="928622"/>
            <a:ext cx="8159342" cy="25418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ROC-AUC : capacité globale à séparer fraude et normal (indépendant du seuil).</a:t>
            </a: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PR-AUC : métrique la plus importante en fraude car centrée sur la classe rare.</a:t>
            </a: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PR-AUC reflète le compromis </a:t>
            </a:r>
            <a:r>
              <a:rPr lang="fr-FR" sz="1800" dirty="0" err="1"/>
              <a:t>precision</a:t>
            </a:r>
            <a:r>
              <a:rPr lang="fr-FR" sz="1800" dirty="0"/>
              <a:t>/</a:t>
            </a:r>
            <a:r>
              <a:rPr lang="fr-FR" sz="1800" dirty="0" err="1"/>
              <a:t>recall</a:t>
            </a:r>
            <a:r>
              <a:rPr lang="fr-FR" sz="1800" dirty="0"/>
              <a:t>, directement lié au coût métier (FN vs FP).</a:t>
            </a: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5C7EEF-5171-BDBF-3B15-4171A8BD9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038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E1367-EBA9-B4D1-2C90-E813F1A6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F7DCF7-42C8-F569-70A1-C53FB7B14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F136C3-494A-ABF2-7868-790B428F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236EB9F-9109-DE32-7954-D13A567FF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306346B-2E23-894A-697D-B57AE814A9B2}"/>
              </a:ext>
            </a:extLst>
          </p:cNvPr>
          <p:cNvSpPr txBox="1"/>
          <p:nvPr/>
        </p:nvSpPr>
        <p:spPr>
          <a:xfrm>
            <a:off x="1005538" y="0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fr-FR" sz="4000" b="1" cap="all" spc="30" dirty="0">
                <a:latin typeface="+mj-lt"/>
                <a:ea typeface="+mj-ea"/>
                <a:cs typeface="+mj-cs"/>
              </a:rPr>
              <a:t>Résultats comparatifs </a:t>
            </a:r>
            <a:endParaRPr lang="en-US" sz="4000" b="1" cap="all" spc="30" dirty="0"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EC24C-4324-7E8E-40E2-99B63A7EB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9B1A62-231B-0621-702D-BA6E4165D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3CB2C91-830A-A189-901E-A2C8369E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38" y="882737"/>
            <a:ext cx="8467380" cy="304708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E11F55-2E9A-E9BC-04F0-6227A555F3BB}"/>
              </a:ext>
            </a:extLst>
          </p:cNvPr>
          <p:cNvSpPr txBox="1"/>
          <p:nvPr/>
        </p:nvSpPr>
        <p:spPr>
          <a:xfrm>
            <a:off x="1005538" y="4014364"/>
            <a:ext cx="8011486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600" dirty="0"/>
              <a:t>PR-AUC est la métrique prioritaire car elle reflète la performance sur la classe rare (fraude).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600" dirty="0"/>
              <a:t>La </a:t>
            </a:r>
            <a:r>
              <a:rPr lang="fr-FR" sz="1600" dirty="0" err="1"/>
              <a:t>baseline</a:t>
            </a:r>
            <a:r>
              <a:rPr lang="fr-FR" sz="1600" dirty="0"/>
              <a:t> obtient la meilleure PR-AUC (0.7463).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600" dirty="0"/>
              <a:t>SMOTE obtient une performance proche (PR-AUC = 0.7346) mais augmente le </a:t>
            </a:r>
            <a:r>
              <a:rPr lang="fr-FR" sz="1600" dirty="0" err="1"/>
              <a:t>recall</a:t>
            </a:r>
            <a:r>
              <a:rPr lang="fr-FR" sz="1600" dirty="0"/>
              <a:t>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600" dirty="0" err="1"/>
              <a:t>UnderSampling</a:t>
            </a:r>
            <a:r>
              <a:rPr lang="fr-FR" sz="1600" dirty="0"/>
              <a:t> dégrade fortement PR-AUC (0.6262), donc méthode moins adaptée ici.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989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EFF8A-044B-6DA6-3415-2B4D3386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3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DFDF19-D305-CF4D-472C-623100DDFB68}"/>
              </a:ext>
            </a:extLst>
          </p:cNvPr>
          <p:cNvSpPr txBox="1"/>
          <p:nvPr/>
        </p:nvSpPr>
        <p:spPr>
          <a:xfrm>
            <a:off x="2677710" y="78787"/>
            <a:ext cx="7464580" cy="5085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 err="1">
                <a:latin typeface="+mj-lt"/>
                <a:ea typeface="+mj-ea"/>
                <a:cs typeface="+mj-cs"/>
              </a:rPr>
              <a:t>Ajustement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du </a:t>
            </a:r>
            <a:r>
              <a:rPr lang="en-US" sz="4000" b="1" cap="all" spc="30" dirty="0" err="1">
                <a:latin typeface="+mj-lt"/>
                <a:ea typeface="+mj-ea"/>
                <a:cs typeface="+mj-cs"/>
              </a:rPr>
              <a:t>seuil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(Threshold tuning)</a:t>
            </a:r>
          </a:p>
        </p:txBody>
      </p:sp>
      <p:cxnSp>
        <p:nvCxnSpPr>
          <p:cNvPr id="52" name="Straight Connector 4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86DD753-2FA9-8D2B-E725-9FD7F6F5D282}"/>
              </a:ext>
            </a:extLst>
          </p:cNvPr>
          <p:cNvSpPr txBox="1"/>
          <p:nvPr/>
        </p:nvSpPr>
        <p:spPr>
          <a:xfrm>
            <a:off x="360727" y="1311246"/>
            <a:ext cx="3886420" cy="411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Le seuil par défaut 0.5 génère trop de faux positifs avec SMOTE.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Optimisation du seuil selon le F1-score de la classe fraude.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Seuil optimal retenu : 0.95.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53" name="Straight Connector 4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E25A8655-D3F4-A23B-7378-61504B19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46" y="1083398"/>
            <a:ext cx="6344654" cy="4922828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245C847-A770-7851-0113-2FEFA9CE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01" y="4287607"/>
            <a:ext cx="4591045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69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8514C-BEC4-10B6-79A7-A3C5FA5C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38">
            <a:extLst>
              <a:ext uri="{FF2B5EF4-FFF2-40B4-BE49-F238E27FC236}">
                <a16:creationId xmlns:a16="http://schemas.microsoft.com/office/drawing/2014/main" id="{90223951-3B66-C40C-1B17-E3261C60F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579896CE-C8EA-E510-3501-4B1DA67F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417329D-642B-3B66-3360-C5B03362A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91BBCE-2609-CE7A-58CC-C035A7A93C00}"/>
              </a:ext>
            </a:extLst>
          </p:cNvPr>
          <p:cNvSpPr txBox="1"/>
          <p:nvPr/>
        </p:nvSpPr>
        <p:spPr>
          <a:xfrm>
            <a:off x="2677710" y="78787"/>
            <a:ext cx="7464580" cy="5085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GB" sz="4000" b="1" dirty="0"/>
              <a:t>Precision-Recall curve (PR curve)</a:t>
            </a:r>
            <a:r>
              <a:rPr lang="en-GB" sz="4000" dirty="0"/>
              <a:t>.</a:t>
            </a:r>
            <a:endParaRPr lang="en-US" sz="4000" b="1" cap="all" spc="30" dirty="0">
              <a:latin typeface="+mj-lt"/>
              <a:ea typeface="+mj-ea"/>
              <a:cs typeface="+mj-cs"/>
            </a:endParaRPr>
          </a:p>
        </p:txBody>
      </p:sp>
      <p:cxnSp>
        <p:nvCxnSpPr>
          <p:cNvPr id="52" name="Straight Connector 44">
            <a:extLst>
              <a:ext uri="{FF2B5EF4-FFF2-40B4-BE49-F238E27FC236}">
                <a16:creationId xmlns:a16="http://schemas.microsoft.com/office/drawing/2014/main" id="{00FFF054-1471-45DE-ACFF-43F140FF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6">
            <a:extLst>
              <a:ext uri="{FF2B5EF4-FFF2-40B4-BE49-F238E27FC236}">
                <a16:creationId xmlns:a16="http://schemas.microsoft.com/office/drawing/2014/main" id="{9C0B1AC7-1D08-AD90-BF01-3DEF8CA4B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92DA167E-AB1E-47B0-39C9-2C0A3647CD7E}"/>
              </a:ext>
            </a:extLst>
          </p:cNvPr>
          <p:cNvSpPr txBox="1"/>
          <p:nvPr/>
        </p:nvSpPr>
        <p:spPr>
          <a:xfrm>
            <a:off x="5606728" y="24816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VS</a:t>
            </a:r>
            <a:endParaRPr lang="en-GB" dirty="0"/>
          </a:p>
        </p:txBody>
      </p:sp>
      <p:pic>
        <p:nvPicPr>
          <p:cNvPr id="13" name="Image 1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054E8517-C4CA-7403-C7AD-32FDE0F9B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20" y="866378"/>
            <a:ext cx="4746498" cy="3639240"/>
          </a:xfrm>
          <a:prstGeom prst="rect">
            <a:avLst/>
          </a:prstGeom>
        </p:spPr>
      </p:pic>
      <p:pic>
        <p:nvPicPr>
          <p:cNvPr id="15" name="Image 14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7C291C4F-8FFF-B974-2114-40D5A4480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278" y="756393"/>
            <a:ext cx="4335711" cy="390530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20A55F4-8550-B32F-35CE-371A248A47F4}"/>
              </a:ext>
            </a:extLst>
          </p:cNvPr>
          <p:cNvSpPr txBox="1"/>
          <p:nvPr/>
        </p:nvSpPr>
        <p:spPr>
          <a:xfrm>
            <a:off x="517320" y="4673745"/>
            <a:ext cx="4524463" cy="206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SMOTE + seuil optimisé (0.95)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PR-AUC ≈ 0.7346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 err="1"/>
              <a:t>Recall</a:t>
            </a:r>
            <a:r>
              <a:rPr lang="fr-FR" sz="1400" dirty="0"/>
              <a:t> très élevé (≈ 0.89)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 err="1"/>
              <a:t>Precision</a:t>
            </a:r>
            <a:r>
              <a:rPr lang="fr-FR" sz="1400" dirty="0"/>
              <a:t> améliorée (≈ 0.25) grâce au seuil élevé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Forte réduction des faux positifs</a:t>
            </a:r>
          </a:p>
          <a:p>
            <a:endParaRPr lang="en-GB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0DE28A-1D88-6C5A-0648-EC28843ADC17}"/>
              </a:ext>
            </a:extLst>
          </p:cNvPr>
          <p:cNvSpPr txBox="1"/>
          <p:nvPr/>
        </p:nvSpPr>
        <p:spPr>
          <a:xfrm>
            <a:off x="6611922" y="4661695"/>
            <a:ext cx="4524463" cy="1702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Baseline (sans rééchantillonnage)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PR-AUC ≈ 0.74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Très bonne précision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Mais </a:t>
            </a:r>
            <a:r>
              <a:rPr lang="fr-FR" sz="1400" dirty="0" err="1"/>
              <a:t>recall</a:t>
            </a:r>
            <a:r>
              <a:rPr lang="fr-FR" sz="1400" dirty="0"/>
              <a:t> plus faible → plusieurs fraudes manquées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878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67FB2-E5D3-2948-BDF5-95C738EA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9E2FA20-CC19-697D-6B0C-9FBD91EA833B}"/>
              </a:ext>
            </a:extLst>
          </p:cNvPr>
          <p:cNvSpPr txBox="1"/>
          <p:nvPr/>
        </p:nvSpPr>
        <p:spPr>
          <a:xfrm>
            <a:off x="1811274" y="-6730"/>
            <a:ext cx="10780776" cy="11802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>
                <a:latin typeface="+mj-lt"/>
                <a:ea typeface="+mj-ea"/>
                <a:cs typeface="+mj-cs"/>
              </a:rPr>
              <a:t> Validation finale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375DD96-01A0-55BD-6E3D-7E4A4941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8" y="3778727"/>
            <a:ext cx="5549902" cy="238432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4788AFD-083C-E977-4557-D1A0710966B3}"/>
              </a:ext>
            </a:extLst>
          </p:cNvPr>
          <p:cNvSpPr txBox="1"/>
          <p:nvPr/>
        </p:nvSpPr>
        <p:spPr>
          <a:xfrm>
            <a:off x="6861048" y="1552425"/>
            <a:ext cx="4819903" cy="37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Dataset final prêt ML : 33 variables.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Train : 227 845 </a:t>
            </a:r>
            <a:r>
              <a:rPr lang="en-US" dirty="0" err="1"/>
              <a:t>lignes</a:t>
            </a:r>
            <a:r>
              <a:rPr lang="en-US" dirty="0"/>
              <a:t>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Test : 56 962 </a:t>
            </a:r>
            <a:r>
              <a:rPr lang="en-US" dirty="0" err="1"/>
              <a:t>lignes</a:t>
            </a:r>
            <a:r>
              <a:rPr lang="en-US" dirty="0"/>
              <a:t>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Export des </a:t>
            </a:r>
            <a:r>
              <a:rPr lang="en-US" dirty="0" err="1"/>
              <a:t>fichiers</a:t>
            </a:r>
            <a:r>
              <a:rPr lang="en-US" dirty="0"/>
              <a:t> : train_ready.csv et test_ready.csv.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60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DEE85-2512-DDCA-2A02-8F41D968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6AC4F7-1960-4EB6-491C-F2A8B87993F0}"/>
              </a:ext>
            </a:extLst>
          </p:cNvPr>
          <p:cNvSpPr txBox="1"/>
          <p:nvPr/>
        </p:nvSpPr>
        <p:spPr>
          <a:xfrm>
            <a:off x="704087" y="559063"/>
            <a:ext cx="3306747" cy="5256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cap="all" spc="30">
                <a:latin typeface="+mj-lt"/>
                <a:ea typeface="+mj-ea"/>
                <a:cs typeface="+mj-cs"/>
              </a:rPr>
              <a:t> conclusion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5627CC0-CE30-77B8-10D2-05F952551092}"/>
              </a:ext>
            </a:extLst>
          </p:cNvPr>
          <p:cNvSpPr txBox="1"/>
          <p:nvPr/>
        </p:nvSpPr>
        <p:spPr>
          <a:xfrm>
            <a:off x="4643022" y="622249"/>
            <a:ext cx="6844892" cy="563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Le pipeline </a:t>
            </a:r>
            <a:r>
              <a:rPr lang="en-US" dirty="0" err="1"/>
              <a:t>respecte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pratiques (split avant transformations, anti leakage).</a:t>
            </a:r>
            <a:endParaRPr lang="en-GB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Les transformations log + </a:t>
            </a:r>
            <a:r>
              <a:rPr lang="en-US" dirty="0" err="1"/>
              <a:t>RobustScaler</a:t>
            </a:r>
            <a:r>
              <a:rPr lang="en-US" dirty="0"/>
              <a:t> </a:t>
            </a:r>
            <a:r>
              <a:rPr lang="en-US" dirty="0" err="1"/>
              <a:t>améliorent</a:t>
            </a:r>
            <a:r>
              <a:rPr lang="en-US" dirty="0"/>
              <a:t> la </a:t>
            </a:r>
            <a:r>
              <a:rPr lang="en-US" dirty="0" err="1"/>
              <a:t>qualité</a:t>
            </a:r>
            <a:r>
              <a:rPr lang="en-US" dirty="0"/>
              <a:t> des variables.</a:t>
            </a:r>
            <a:endParaRPr lang="en-GB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Les variables métiers Q10/Q90 </a:t>
            </a:r>
            <a:r>
              <a:rPr lang="en-US" dirty="0" err="1"/>
              <a:t>apportent</a:t>
            </a:r>
            <a:r>
              <a:rPr lang="en-US" dirty="0"/>
              <a:t> un signal </a:t>
            </a:r>
            <a:r>
              <a:rPr lang="en-US" dirty="0" err="1"/>
              <a:t>interprétable</a:t>
            </a:r>
            <a:r>
              <a:rPr lang="en-US" dirty="0"/>
              <a:t>.</a:t>
            </a:r>
            <a:endParaRPr lang="en-GB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SMOTE </a:t>
            </a:r>
            <a:r>
              <a:rPr lang="en-US" dirty="0" err="1"/>
              <a:t>améliore</a:t>
            </a:r>
            <a:r>
              <a:rPr lang="en-US" dirty="0"/>
              <a:t> le recall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nécessite</a:t>
            </a:r>
            <a:r>
              <a:rPr lang="en-US" dirty="0"/>
              <a:t> un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ajusté</a:t>
            </a:r>
            <a:r>
              <a:rPr lang="en-US" dirty="0"/>
              <a:t>.</a:t>
            </a:r>
            <a:endParaRPr lang="en-GB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Le </a:t>
            </a:r>
            <a:r>
              <a:rPr lang="en-US" dirty="0" err="1"/>
              <a:t>seuil</a:t>
            </a:r>
            <a:r>
              <a:rPr lang="en-US" dirty="0"/>
              <a:t> 0.95 </a:t>
            </a:r>
            <a:r>
              <a:rPr lang="en-US" dirty="0" err="1"/>
              <a:t>réduit</a:t>
            </a:r>
            <a:r>
              <a:rPr lang="en-US" dirty="0"/>
              <a:t> </a:t>
            </a:r>
            <a:r>
              <a:rPr lang="en-US" dirty="0" err="1"/>
              <a:t>fortement</a:t>
            </a:r>
            <a:r>
              <a:rPr lang="en-US" dirty="0"/>
              <a:t> les faux </a:t>
            </a:r>
            <a:r>
              <a:rPr lang="en-US" dirty="0" err="1"/>
              <a:t>positifs</a:t>
            </a:r>
            <a:r>
              <a:rPr lang="en-US" dirty="0"/>
              <a:t> tout </a:t>
            </a:r>
            <a:r>
              <a:rPr lang="en-US" dirty="0" err="1"/>
              <a:t>en</a:t>
            </a:r>
            <a:r>
              <a:rPr lang="en-US" dirty="0"/>
              <a:t> gardant un recall </a:t>
            </a:r>
            <a:r>
              <a:rPr lang="en-US" dirty="0" err="1"/>
              <a:t>élevé</a:t>
            </a:r>
            <a:r>
              <a:rPr lang="en-US" dirty="0"/>
              <a:t>.</a:t>
            </a: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US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GB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dirty="0"/>
              <a:t>Conclusion :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fraude</a:t>
            </a:r>
            <a:r>
              <a:rPr lang="en-US" dirty="0"/>
              <a:t> </a:t>
            </a:r>
            <a:r>
              <a:rPr lang="en-US" dirty="0" err="1"/>
              <a:t>bancaire</a:t>
            </a:r>
            <a:r>
              <a:rPr lang="en-US" dirty="0"/>
              <a:t>, PR-AUC et </a:t>
            </a:r>
            <a:r>
              <a:rPr lang="en-US" dirty="0" err="1"/>
              <a:t>l’ajustement</a:t>
            </a:r>
            <a:r>
              <a:rPr lang="en-US" dirty="0"/>
              <a:t> du </a:t>
            </a:r>
            <a:r>
              <a:rPr lang="en-US" dirty="0" err="1"/>
              <a:t>seuil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essentiels</a:t>
            </a:r>
            <a:r>
              <a:rPr lang="en-US" dirty="0"/>
              <a:t> pour </a:t>
            </a:r>
            <a:r>
              <a:rPr lang="en-US" dirty="0" err="1"/>
              <a:t>obtenir</a:t>
            </a:r>
            <a:r>
              <a:rPr lang="en-US" dirty="0"/>
              <a:t> un </a:t>
            </a:r>
            <a:r>
              <a:rPr lang="en-US" dirty="0" err="1"/>
              <a:t>modèle</a:t>
            </a:r>
            <a:r>
              <a:rPr lang="en-US" dirty="0"/>
              <a:t> exploitable métier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54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648CF-5910-7FEB-3A31-023D911A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DE VOTRE ATTENTION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3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779</Words>
  <Application>Microsoft Office PowerPoint</Application>
  <PresentationFormat>Grand écran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Univers Condensed</vt:lpstr>
      <vt:lpstr>Wingdings</vt:lpstr>
      <vt:lpstr>ChronicleVTI</vt:lpstr>
      <vt:lpstr> Évaluation Sommative 1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DE VOTRE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Yazid Aloui</dc:creator>
  <cp:lastModifiedBy>Yazid Aloui</cp:lastModifiedBy>
  <cp:revision>3</cp:revision>
  <dcterms:created xsi:type="dcterms:W3CDTF">2025-02-26T22:09:05Z</dcterms:created>
  <dcterms:modified xsi:type="dcterms:W3CDTF">2026-02-10T03:16:29Z</dcterms:modified>
</cp:coreProperties>
</file>